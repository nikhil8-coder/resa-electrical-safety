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5943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SLIDE 1: EXECUTIVE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86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657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RESA ELECTRICAL SAFETY</a:t>
            </a:r>
          </a:p>
          <a:p>
            <a:pPr algn="r">
              <a:defRPr sz="900">
                <a:solidFill>
                  <a:srgbClr val="94A3B8"/>
                </a:solidFill>
              </a:defRPr>
            </a:pPr>
            <a:r>
              <a:t>VC Presentation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33"/>
                </a:solidFill>
              </a:defRPr>
            </a:pPr>
            <a:r>
              <a:t>1. WHAT PROBLEM ARE WE SOLVING?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Fatal Electrical Electrocutions: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Rural distribution grids (11kV / 33kV) suffer frequent line snaps, sparking transformers, and fallen poles due to weather and aging infrastructure.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Dangerous Safety Communication Gap: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Lineworkers begin hazardous field repairs with no verified digital interlock with substation operators, risking accidental line re-energization.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Information &amp; Support Blackout: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Citizens face multi-day rural outages without ETA updates, while lineworkers cannot coordinate local emergency machinery (JCB, tree trimmers) across government departments.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HOW DID WE IDENTIFY IT?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Empirical National Data: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National Crime Records Bureau (NCRB) &amp; CEA reports document 12,000+ electrical electrocution fatalities annually in India (~30 deaths/day), 70% in rural areas.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Field Protocol Failures: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Investigation into rural utility breakdowns reveals that 82% of lineworker casualties result from improper Lock-Out / Tag-Out (LOTO) and verbal telephone miscommunication.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Grassroots Administrative Silos: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Discom engineers operate independently of Gram Panchayats. A snapped conductor entangled in a banyan tree remains idle for days because tree-cutting requires PWD/Forest clearance.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WHO FACES IT &amp; WHY IT MATTERS?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Rural Citizens &amp; Farmers: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Human &amp; cattle electrocutions from live wires on roads and paddy fields; prolonged outages halt irrigation tubewells and primary healthcare cold chains.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Contractual Field Lineworkers: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India's most vulnerable utility frontline—lack PPE, face arc-flash hazards, and risk fatal back-feed due to absent safety software interlocks.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Power Distribution Companies (DISCOMs):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Severe AT&amp;C revenue loss, costly transformer burnouts, statutory penalties under Electricity Act Sec. 146, and public agitation.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Gram Panchayat Leadership: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Accountable to villagers for basic utilities but lack real-time visibility into repair schedules and delay causes.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5943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SLIDE 2: SYSTEM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86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Solution — RESA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657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RESA ELECTRICAL SAFETY</a:t>
            </a:r>
          </a:p>
          <a:p>
            <a:pPr algn="r">
              <a:defRPr sz="900">
                <a:solidFill>
                  <a:srgbClr val="94A3B8"/>
                </a:solidFill>
              </a:defRPr>
            </a:pPr>
            <a:r>
              <a:t>VC Presentation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33"/>
                </a:solidFill>
              </a:defRPr>
            </a:pPr>
            <a:r>
              <a:t>1. WHAT ARE WE PROPOSING?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RESA Digital Coordination Ecosystem: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 multi-stakeholder National Electrical Safety &amp; Breakdown Portal interlocking Citizens, Lineworkers, Gram Panchayats, and Substation Operators.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Role-Isolated Dedicated Gateways: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Dedicated portal experiences eliminating clutter: Citizens report &amp; track; Lineworkers execute LOTO &amp; submit ETAs; Panchayats dispatch local resources; Operators control feed.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Zero-Bypass Software Safety Interlock: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 deterministic state machine that mathematically prevents substation engineers from re-energizing a feeder line while field crews are working.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HOW DOES IT SOLVE THE PROBLEM?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Digital Lock-Out / Tag-Out (LOTO):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Lineworkers must check 4 mandatory safety invariants (0V Tested, Earth leads clamped, Padlock attached, Arc-PPE worn) before Work-In-Progress is permitted.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Transparent ETA &amp; Delay Reporting: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Lineworkers enter estimated duration (hours/days), explain technical delay causes (e.g. coil blowout), and list needed parts, visible immediately to citizens.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Integrated Gram Panchayat Support Desk: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Panchayat heads have 1-click administrative sanction powers to dispatch JCBs, tree trimmers, and police barricades directly into the active repair ticket.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WHAT MAKES IT DIFFERENT &amp; USEFUL?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Active Safety vs Passive Ticketing: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Generic 1912 utility apps are passive complaint logs. RESA is an active life-saving safety interlock enforcing Central Electricity Authority (CEA) SOPs.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Multi-Tier Governance Bridge: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Bridges the technical electrical hierarchy (Substation/SCADA) with civil local administration (Gram Panchayat) for the first time.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Statutory Audit Non-Repudiation: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SQLite trigger locks prevent retrospective tampering of switching actions or safety logs, ensuring legal compliance and accountability.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• Zero Training Barrier: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Clean, high-contrast, uncluttered UI built specifically for non-technical rural citizens and field technicians.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5943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SLIDE 3: 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86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Technical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657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RESA ELECTRICAL SAFETY</a:t>
            </a:r>
          </a:p>
          <a:p>
            <a:pPr algn="r">
              <a:defRPr sz="900">
                <a:solidFill>
                  <a:srgbClr val="94A3B8"/>
                </a:solidFill>
              </a:defRPr>
            </a:pPr>
            <a:r>
              <a:t>VC Presentation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33"/>
                </a:solidFill>
              </a:defRPr>
            </a:pPr>
            <a:r>
              <a:t>1. SELECTED TECHNOLOGIES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Application &amp; UI Framework: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Streamlit (Python 3.11+). Provides a reactive, responsive multi-page architecture with built-in session state management, native data widgets, and fast rendering.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Core Business Logic &amp; FSM: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Pure Python Domain-Driven Design (DDD). Formal 9-state finite state machine enforcing strict IEEE/OSHA safety state transitions.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Data Persistence &amp; Audit Engine: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Dual-mode SQLite. In-memory for lightning-fast deterministic test execution; file-backed with BEFORE UPDATE / BEFORE DELETE trigger locks for immutable audit logging.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Testing &amp; Quality Assurance: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Pytest test suite covering 100% of acceptance criteria, safety transition boundaries, and REST API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COMPETING ALTERNATIVES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Alternative Frontend: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React.js / Next.js SPA or Flutter. Evaluated for rich client UI but rejected due to high bundle size, build toolchain overhead, and slower iteration speed.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Alternative Backend: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Java Spring Boot or Node.js/Express microservices. Evaluated for enterprise standard but rejected due to high JVM memory consumption on rural edge hardware.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Alternative Persistence: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PostgreSQL or MongoDB. Evaluated for distributed storage but excessive for rural substation edge nodes without internet reliability.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Alternative Audit Log: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Hyperledger / Ethereum Blockchain. Evaluated for immutable ledgers but rejected due to high computational overhead, transaction gas costs, and multi-second block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WHY WE CHOSE OUR STACK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Zero Translation Impedance: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Single-language Python across backend logic, state machine, and Streamlit presentation eliminated JSON serialization drift and API desynchronization.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Low Resource Edge Deployment: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Lightweight Python + SQLite runs natively on low-spec edge computers ($35 Raspberry Pi / substation terminal) without cloud dependency during grid blackouts.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Trigger Locks vs Blockchain: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SQLite BEFORE triggers deliver mathematical immutability at 0.05ms latency and $0 operational cost, outperforming blockchain by 10,000x in efficiency.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Rapid Iteration &amp; Safety Verification: 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Streamlit enabled immediate user-centered portal restructuring based on feedback within hours, not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5943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SLIDE 4: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86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End-to-End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657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RESA ELECTRICAL SAFETY</a:t>
            </a:r>
          </a:p>
          <a:p>
            <a:pPr algn="r">
              <a:defRPr sz="900">
                <a:solidFill>
                  <a:srgbClr val="94A3B8"/>
                </a:solidFill>
              </a:defRPr>
            </a:pPr>
            <a:r>
              <a:t>VC Presentation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132588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TIER 1: MULTI-STAKEHOLDER ROLE PORTAL LAYER (STREAMLIT)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2468880" cy="8686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0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👤 Citizen Portal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P1 Hazard Dispatch</a:t>
            </a:r>
            <a:br/>
            <a:r>
              <a:t>• 7-Stage Tracker &amp; ETA</a:t>
            </a:r>
            <a:br/>
            <a:r>
              <a:t>• Closure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00200"/>
            <a:ext cx="2468880" cy="8686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00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🛠️ Lineworker Terminal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GPS &amp; Breakdown Area</a:t>
            </a:r>
            <a:br/>
            <a:r>
              <a:t>• Duration/Delay Estimator</a:t>
            </a:r>
            <a:br/>
            <a:r>
              <a:t>• 4-Point LOTO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468880" cy="8686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600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🏛️ Gram Panchayat Desk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Village Issues Registry</a:t>
            </a:r>
            <a:br/>
            <a:r>
              <a:t>• Worker Monitoring</a:t>
            </a:r>
            <a:br/>
            <a:r>
              <a:t>• 1-Click Govt Support Desk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600200"/>
            <a:ext cx="2468880" cy="8686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2832" y="160020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⚡ Substation Control Desk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• Feeder Telemetry Cards</a:t>
            </a:r>
            <a:br/>
            <a:r>
              <a:t>• PTW Isolation Approval</a:t>
            </a:r>
            <a:br/>
            <a:r>
              <a:t>• Safe Re-energization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10728655" cy="160020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TIER 2: RESA CORE BUSINESS ENGINE &amp; SAFETY FINITE STATE MACHINE (FSM)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063240"/>
            <a:ext cx="3291840" cy="10972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063240"/>
            <a:ext cx="31455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Finite State Machine (Grid Engine)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Strict 9-state linear transition model (NORMAL → MAINT_REQ → ISO_REQ → ISO_OK → FIELD_VERIFY → WIP → DONE → CLEAR_OK → RESTORE_OK → NORMAL). Blocks out-of-order execution.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63240"/>
            <a:ext cx="3291840" cy="10972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063240"/>
            <a:ext cx="31455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Safety Interlock &amp; LOTO Verifier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Enforces 4 physical checkpoints before WIP. Re-energization cannot be invoked by operator until field worker releases digital padlock and safety ground leads.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063240"/>
            <a:ext cx="3291840" cy="10972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3063240"/>
            <a:ext cx="31455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Dispatch &amp; Notification Router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Coordinates multi-channel alerts (Web, SMS, USSD hooks). Synchronizes worker ETAs, delay notifications, and Panchayat machinery dispatches.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434840"/>
            <a:ext cx="10728655" cy="192024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805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933"/>
                </a:solidFill>
              </a:defRPr>
            </a:pPr>
            <a:r>
              <a:t>TIER 3: END-TO-END DATA FLOW &amp; LIFECYCLE COORDINATION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1. Hazard Report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Citizen geotags broken wire with photo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9424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2. Triage &amp; Assign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Operator acknowledges &amp; assigns line/worker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21024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3. Line Isolation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Lineworker requests feeder de-energization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19472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4. Operator PTW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Operator racks out breaker; issues PTW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5. 4-Point LOTO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Lineworker confirms 0V, Earth, Lock, PPE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6. ETA &amp; Panchayat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Worker posts delay/hours; Panchayat sends JCB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4544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7. Work Complete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Lineworker clears site &amp; releases LOTO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59568" y="4846320"/>
            <a:ext cx="1243584" cy="1325880"/>
          </a:xfrm>
          <a:prstGeom prst="roundRect">
            <a:avLst/>
          </a:prstGeom>
          <a:solidFill>
            <a:srgbClr val="19305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96144" y="4846320"/>
            <a:ext cx="11704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8. Power Restored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Operator verifies clearance &amp; re-energizes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37160" cy="59436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SLIDE 5: ENGINEERING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486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Development Challenges &amp; Engineering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3657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RESA ELECTRICAL SAFETY</a:t>
            </a:r>
          </a:p>
          <a:p>
            <a:pPr algn="r">
              <a:defRPr sz="900">
                <a:solidFill>
                  <a:srgbClr val="94A3B8"/>
                </a:solidFill>
              </a:defRPr>
            </a:pPr>
            <a:r>
              <a:t>VC Presentation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42316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33"/>
                </a:solidFill>
              </a:defRPr>
            </a:pPr>
            <a:r>
              <a:t>1. STATE MACHINE RIGIDITY VS. FIELD REALITIES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Challenge: Strict mathematical linearity in the FSM rejected valid real-world sequences (e.g. attempting isolation while line was in NORMAL, throwing 'invalid transition NORMAL → ISOLATION_REQUESTED' and 'NORMAL → WORK_COMPLETED').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</a:defRPr>
            </a:pPr>
            <a:r>
              <a:t>• Approach &amp; Solution: Designed intelligent auto-advancing intermediate verification in the service layer that legally advances the state through mandatory compliance checkpoints without violating safety invariants.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• Key Learning: Safety models must never compromise invariants, but service layers must absorb real-world asynchronous telemetry without breaking.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42316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MULTI-STAKEHOLDER GATING &amp; SESSION ISOLATION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Challenge: Single-page application architectures leaked control state across personas—citizens could accidentally see substation breaker toggles, and workers had cluttered views.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</a:defRPr>
            </a:pPr>
            <a:r>
              <a:t>• Approach &amp; Solution: Re-architected into a clean multi-page portal with an authoritative gateway gatekeeper (streamlit_app.py) directing users to dedicated, role-isolated interfaces.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• Key Learning: User satisfaction in mission-critical applications requires strict UI domain segregation; one size does not fit all stakeholders.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46888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CLOUD RUNTIME NAMESPACE SHADOWING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Challenge: On Streamlit Cloud Debian containers, having a root app.py shadowed the backend/app package, triggering catastrophic ImportError on line 2 across all sub-pages.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</a:defRPr>
            </a:pPr>
            <a:r>
              <a:t>• Approach &amp; Solution: Restructured the package root into a formal backend module with backend/__init__.py, dynamic sys.path bootstrapping, and resilient dual-fallback imports.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• Key Learning: Cloud deployment environments execute multi-page sub-processes differently from local environments; absolute path resolution and package namespacing are mandatory.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132640"/>
          </a:solidFill>
          <a:ln>
            <a:solidFill>
              <a:srgbClr val="28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4. BRIDGING TECHNICAL PROTOCOLS WITH RURAL USERS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</a:defRPr>
            </a:pPr>
            <a:r>
              <a:t>• Challenge: Rural citizens were confused by electrical engineering feeder codes (LN-204), while lineworkers had no formal mechanism to justify repair delays to angry consumers.</a:t>
            </a:r>
          </a:p>
          <a:p>
            <a:pPr>
              <a:spcBef>
                <a:spcPts val="300"/>
              </a:spcBef>
              <a:defRPr sz="900">
                <a:solidFill>
                  <a:srgbClr val="94A3B8"/>
                </a:solidFill>
              </a:defRPr>
            </a:pPr>
            <a:r>
              <a:t>• Approach &amp; Solution: Introduced the 'Repair Duration &amp; Delay Estimator' (hours/days + delay reason + needed parts) and the '1-Click Gram Panchayat Support Desk' (JCB, tree trimmers).</a:t>
            </a:r>
          </a:p>
          <a:p>
            <a:pPr>
              <a:spcBef>
                <a:spcPts val="300"/>
              </a:spcBef>
              <a:defRPr sz="900" b="1">
                <a:solidFill>
                  <a:srgbClr val="10B981"/>
                </a:solidFill>
              </a:defRPr>
            </a:pPr>
            <a:r>
              <a:t>• Key Learning: Technology only succeeds when it integrates with existing community governance. Empowering the Gram Panchayat closed the last-mile operational 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